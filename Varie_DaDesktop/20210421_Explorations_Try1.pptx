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</p:sldMasterIdLst>
  <p:sldIdLst>
    <p:sldId id="256" r:id="rId3"/>
    <p:sldId id="257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5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9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553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16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3291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7673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7546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37131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854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0732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4391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76420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223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70837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76059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94526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0380606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3370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1970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083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0957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17231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4985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43860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965891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10417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531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84948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42516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9529949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2647778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2992030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53128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02396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23684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177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728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3381760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631984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E217-4682-48D6-B321-271E08CDE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02B45-9D4B-4178-B431-B9B2C4034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73839-1170-4539-A5CE-A33FF752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06C-A35E-4CE8-A9FA-7418A71C9D5F}" type="datetimeFigureOut">
              <a:rPr lang="it-IT" smtClean="0"/>
              <a:t>21/04/2021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61475-BB45-4326-A1E8-AFF49B6D8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FCD92-8B6D-4263-B480-95B0C3E9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19853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477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8090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590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570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472983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12195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400178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58451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590884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0887314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2619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91431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3190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729218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896175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097324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438956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560154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238451614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651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1731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24264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448050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569078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2705758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9662263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661770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12244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483525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642927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018473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1096830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6784598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24363211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05917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29845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97754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55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757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3587825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615392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AE1159D-A071-495B-AD4F-566364EB143E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0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43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054C86-78EB-45DC-9EEF-90AE479C4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518" y="1684948"/>
            <a:ext cx="5191125" cy="4324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09F808-E934-42EE-976F-C8CB43B8A54A}"/>
              </a:ext>
            </a:extLst>
          </p:cNvPr>
          <p:cNvSpPr txBox="1"/>
          <p:nvPr/>
        </p:nvSpPr>
        <p:spPr>
          <a:xfrm>
            <a:off x="219677" y="1315616"/>
            <a:ext cx="559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Staged: 21T03 (AD:110,AL:90)	</a:t>
            </a:r>
            <a:r>
              <a:rPr lang="en-US" dirty="0" err="1">
                <a:solidFill>
                  <a:srgbClr val="FF0000"/>
                </a:solidFill>
              </a:rPr>
              <a:t>Laptime</a:t>
            </a:r>
            <a:r>
              <a:rPr lang="en-US" dirty="0">
                <a:solidFill>
                  <a:srgbClr val="FF0000"/>
                </a:solidFill>
              </a:rPr>
              <a:t>: 1:38:97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A0B5B-2F18-4F13-8849-744EAE7135D6}"/>
              </a:ext>
            </a:extLst>
          </p:cNvPr>
          <p:cNvSpPr txBox="1"/>
          <p:nvPr/>
        </p:nvSpPr>
        <p:spPr>
          <a:xfrm>
            <a:off x="5816081" y="1315616"/>
            <a:ext cx="559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Selected: 21T04 (AD:110,AL:90)	</a:t>
            </a:r>
            <a:r>
              <a:rPr lang="en-US" dirty="0" err="1">
                <a:solidFill>
                  <a:srgbClr val="00B050"/>
                </a:solidFill>
              </a:rPr>
              <a:t>Laptime</a:t>
            </a:r>
            <a:r>
              <a:rPr lang="en-US" dirty="0">
                <a:solidFill>
                  <a:srgbClr val="00B050"/>
                </a:solidFill>
              </a:rPr>
              <a:t>: 1:39:90</a:t>
            </a:r>
            <a:endParaRPr lang="it-IT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50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09F808-E934-42EE-976F-C8CB43B8A54A}"/>
              </a:ext>
            </a:extLst>
          </p:cNvPr>
          <p:cNvSpPr txBox="1"/>
          <p:nvPr/>
        </p:nvSpPr>
        <p:spPr>
          <a:xfrm>
            <a:off x="219675" y="174712"/>
            <a:ext cx="6340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Frankenstein model (Best from exploration)</a:t>
            </a:r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589E4D-E9A7-45D9-A38A-D4E75C564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353" y="1244475"/>
            <a:ext cx="5705475" cy="933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5C08D0-DC3F-4BA1-8A57-B6EF68795F63}"/>
              </a:ext>
            </a:extLst>
          </p:cNvPr>
          <p:cNvSpPr txBox="1"/>
          <p:nvPr/>
        </p:nvSpPr>
        <p:spPr>
          <a:xfrm>
            <a:off x="5511567" y="1791708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Laptime</a:t>
            </a:r>
            <a:r>
              <a:rPr lang="en-US" dirty="0"/>
              <a:t>: 205.59s</a:t>
            </a:r>
            <a:endParaRPr lang="it-I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83B1F1-2A85-416B-AE65-5754B18461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124"/>
          <a:stretch/>
        </p:blipFill>
        <p:spPr>
          <a:xfrm>
            <a:off x="0" y="2392493"/>
            <a:ext cx="4706836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71C62B-ED07-4B45-BEC2-93F8F533A829}"/>
              </a:ext>
            </a:extLst>
          </p:cNvPr>
          <p:cNvSpPr txBox="1"/>
          <p:nvPr/>
        </p:nvSpPr>
        <p:spPr>
          <a:xfrm>
            <a:off x="1417812" y="300926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Laptime</a:t>
            </a:r>
            <a:r>
              <a:rPr lang="en-US" dirty="0"/>
              <a:t>: 204.04s</a:t>
            </a:r>
            <a:endParaRPr lang="it-IT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48E64E-E76F-4A9C-B79A-6CCB44DFEC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239"/>
          <a:stretch/>
        </p:blipFill>
        <p:spPr>
          <a:xfrm>
            <a:off x="4712420" y="2342178"/>
            <a:ext cx="4706836" cy="990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70B241-8353-466A-B09A-52CCE6E5796F}"/>
              </a:ext>
            </a:extLst>
          </p:cNvPr>
          <p:cNvSpPr txBox="1"/>
          <p:nvPr/>
        </p:nvSpPr>
        <p:spPr>
          <a:xfrm>
            <a:off x="6234803" y="2961171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Laptime</a:t>
            </a:r>
            <a:r>
              <a:rPr lang="en-US" dirty="0"/>
              <a:t>: 204.46s</a:t>
            </a:r>
            <a:endParaRPr lang="it-IT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84850-1414-4412-AE86-B62DF6C7A8B9}"/>
              </a:ext>
            </a:extLst>
          </p:cNvPr>
          <p:cNvSpPr txBox="1"/>
          <p:nvPr/>
        </p:nvSpPr>
        <p:spPr>
          <a:xfrm>
            <a:off x="3957295" y="1059809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Single Exploration Results</a:t>
            </a:r>
            <a:endParaRPr lang="it-IT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BCA6CBB-F44C-4C29-A030-FE1C37BA2939}"/>
              </a:ext>
            </a:extLst>
          </p:cNvPr>
          <p:cNvSpPr/>
          <p:nvPr/>
        </p:nvSpPr>
        <p:spPr>
          <a:xfrm>
            <a:off x="1589372" y="3430993"/>
            <a:ext cx="259230" cy="623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59C432-4C81-4FF3-9FD7-E1D2C8588721}"/>
              </a:ext>
            </a:extLst>
          </p:cNvPr>
          <p:cNvSpPr txBox="1"/>
          <p:nvPr/>
        </p:nvSpPr>
        <p:spPr>
          <a:xfrm>
            <a:off x="77281" y="4076738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Frankenstein1	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Laptime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: 203.94</a:t>
            </a:r>
            <a:endParaRPr lang="it-IT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7EA843-196A-4929-B7FA-1CA8624CACB9}"/>
              </a:ext>
            </a:extLst>
          </p:cNvPr>
          <p:cNvSpPr txBox="1"/>
          <p:nvPr/>
        </p:nvSpPr>
        <p:spPr>
          <a:xfrm>
            <a:off x="4269629" y="4067046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Frankenstein2	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Laptime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: 204.47</a:t>
            </a:r>
            <a:endParaRPr lang="it-IT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22DBEA7-8D31-448A-B886-1D4F47B74EED}"/>
              </a:ext>
            </a:extLst>
          </p:cNvPr>
          <p:cNvSpPr/>
          <p:nvPr/>
        </p:nvSpPr>
        <p:spPr>
          <a:xfrm>
            <a:off x="5933629" y="3457272"/>
            <a:ext cx="259230" cy="623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43A002B6-813C-4D4F-9347-19AC1CF47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17433"/>
              </p:ext>
            </p:extLst>
          </p:nvPr>
        </p:nvGraphicFramePr>
        <p:xfrm>
          <a:off x="24886" y="4451171"/>
          <a:ext cx="4018359" cy="1281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453">
                  <a:extLst>
                    <a:ext uri="{9D8B030D-6E8A-4147-A177-3AD203B41FA5}">
                      <a16:colId xmlns:a16="http://schemas.microsoft.com/office/drawing/2014/main" val="2252637372"/>
                    </a:ext>
                  </a:extLst>
                </a:gridCol>
                <a:gridCol w="1339453">
                  <a:extLst>
                    <a:ext uri="{9D8B030D-6E8A-4147-A177-3AD203B41FA5}">
                      <a16:colId xmlns:a16="http://schemas.microsoft.com/office/drawing/2014/main" val="467793081"/>
                    </a:ext>
                  </a:extLst>
                </a:gridCol>
                <a:gridCol w="1339453">
                  <a:extLst>
                    <a:ext uri="{9D8B030D-6E8A-4147-A177-3AD203B41FA5}">
                      <a16:colId xmlns:a16="http://schemas.microsoft.com/office/drawing/2014/main" val="1936753648"/>
                    </a:ext>
                  </a:extLst>
                </a:gridCol>
              </a:tblGrid>
              <a:tr h="182419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solidFill>
                            <a:srgbClr val="002060"/>
                          </a:solidFill>
                        </a:rPr>
                        <a:t>ApexSim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solidFill>
                            <a:srgbClr val="002060"/>
                          </a:solidFill>
                        </a:rPr>
                        <a:t>Stright</a:t>
                      </a:r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 Sim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612700"/>
                  </a:ext>
                </a:extLst>
              </a:tr>
              <a:tr h="182419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</a:t>
                      </a: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/R_100</a:t>
                      </a: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52.3 / 78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53.8 / 73.3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933799"/>
                  </a:ext>
                </a:extLst>
              </a:tr>
              <a:tr h="18333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</a:t>
                      </a: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/R_200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38.6 / 61.8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42.4 / 57.2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389656"/>
                  </a:ext>
                </a:extLst>
              </a:tr>
              <a:tr h="18333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</a:t>
                      </a: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/R_300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19.2 / 39.2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22.9 / 36.7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91822"/>
                  </a:ext>
                </a:extLst>
              </a:tr>
              <a:tr h="18333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rAeroBal_100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41.48 %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39.95 %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984085"/>
                  </a:ext>
                </a:extLst>
              </a:tr>
              <a:tr h="1833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rAeroBal_200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43.9 %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41.58 %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957947"/>
                  </a:ext>
                </a:extLst>
              </a:tr>
              <a:tr h="18333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rAeroBal_300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50.2 %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48.93 %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71831"/>
                  </a:ext>
                </a:extLst>
              </a:tr>
            </a:tbl>
          </a:graphicData>
        </a:graphic>
      </p:graphicFrame>
      <p:graphicFrame>
        <p:nvGraphicFramePr>
          <p:cNvPr id="22" name="Table 20">
            <a:extLst>
              <a:ext uri="{FF2B5EF4-FFF2-40B4-BE49-F238E27FC236}">
                <a16:creationId xmlns:a16="http://schemas.microsoft.com/office/drawing/2014/main" id="{9E221331-C635-4DE2-AACC-F3482C3D2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592636"/>
              </p:ext>
            </p:extLst>
          </p:nvPr>
        </p:nvGraphicFramePr>
        <p:xfrm>
          <a:off x="4062147" y="4451168"/>
          <a:ext cx="4018359" cy="1281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453">
                  <a:extLst>
                    <a:ext uri="{9D8B030D-6E8A-4147-A177-3AD203B41FA5}">
                      <a16:colId xmlns:a16="http://schemas.microsoft.com/office/drawing/2014/main" val="2252637372"/>
                    </a:ext>
                  </a:extLst>
                </a:gridCol>
                <a:gridCol w="1339453">
                  <a:extLst>
                    <a:ext uri="{9D8B030D-6E8A-4147-A177-3AD203B41FA5}">
                      <a16:colId xmlns:a16="http://schemas.microsoft.com/office/drawing/2014/main" val="467793081"/>
                    </a:ext>
                  </a:extLst>
                </a:gridCol>
                <a:gridCol w="1339453">
                  <a:extLst>
                    <a:ext uri="{9D8B030D-6E8A-4147-A177-3AD203B41FA5}">
                      <a16:colId xmlns:a16="http://schemas.microsoft.com/office/drawing/2014/main" val="1936753648"/>
                    </a:ext>
                  </a:extLst>
                </a:gridCol>
              </a:tblGrid>
              <a:tr h="182418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solidFill>
                            <a:srgbClr val="002060"/>
                          </a:solidFill>
                        </a:rPr>
                        <a:t>ApexSim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solidFill>
                            <a:srgbClr val="002060"/>
                          </a:solidFill>
                        </a:rPr>
                        <a:t>Stright</a:t>
                      </a:r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 Sim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612700"/>
                  </a:ext>
                </a:extLst>
              </a:tr>
              <a:tr h="18241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</a:t>
                      </a: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/R_100</a:t>
                      </a: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52 / 88.8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53.5 / 83.4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933799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</a:t>
                      </a: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/R_200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36.8 / 72.3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40.8 / 67.1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389656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</a:t>
                      </a: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/R_300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17.3 / 48.1</a:t>
                      </a: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21.5 /43.9</a:t>
                      </a: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91822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rAeroBal_100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43.99 %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42.24 %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984085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rAeroBal_200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46.39 %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43.86 %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957947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rAeroBal_300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51.62 %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49.36 %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71831"/>
                  </a:ext>
                </a:extLst>
              </a:tr>
            </a:tbl>
          </a:graphicData>
        </a:graphic>
      </p:graphicFrame>
      <p:graphicFrame>
        <p:nvGraphicFramePr>
          <p:cNvPr id="23" name="Table 20">
            <a:extLst>
              <a:ext uri="{FF2B5EF4-FFF2-40B4-BE49-F238E27FC236}">
                <a16:creationId xmlns:a16="http://schemas.microsoft.com/office/drawing/2014/main" id="{2A87559F-8571-480C-8130-F84FD0C72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155935"/>
              </p:ext>
            </p:extLst>
          </p:nvPr>
        </p:nvGraphicFramePr>
        <p:xfrm>
          <a:off x="9790544" y="2828173"/>
          <a:ext cx="1937878" cy="365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713">
                  <a:extLst>
                    <a:ext uri="{9D8B030D-6E8A-4147-A177-3AD203B41FA5}">
                      <a16:colId xmlns:a16="http://schemas.microsoft.com/office/drawing/2014/main" val="2252637372"/>
                    </a:ext>
                  </a:extLst>
                </a:gridCol>
                <a:gridCol w="946165">
                  <a:extLst>
                    <a:ext uri="{9D8B030D-6E8A-4147-A177-3AD203B41FA5}">
                      <a16:colId xmlns:a16="http://schemas.microsoft.com/office/drawing/2014/main" val="467793081"/>
                    </a:ext>
                  </a:extLst>
                </a:gridCol>
              </a:tblGrid>
              <a:tr h="182419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hRIdeF_Setup</a:t>
                      </a:r>
                      <a:endParaRPr lang="en-US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60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933799"/>
                  </a:ext>
                </a:extLst>
              </a:tr>
              <a:tr h="18333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hRIdeR_Setup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75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38965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8085D3A-09BC-4904-96C8-B7B36A7FBC1F}"/>
              </a:ext>
            </a:extLst>
          </p:cNvPr>
          <p:cNvSpPr txBox="1"/>
          <p:nvPr/>
        </p:nvSpPr>
        <p:spPr>
          <a:xfrm>
            <a:off x="8326573" y="4067046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Frankenstein3	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Laptime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: 204.47</a:t>
            </a:r>
            <a:endParaRPr lang="it-IT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25" name="Table 20">
            <a:extLst>
              <a:ext uri="{FF2B5EF4-FFF2-40B4-BE49-F238E27FC236}">
                <a16:creationId xmlns:a16="http://schemas.microsoft.com/office/drawing/2014/main" id="{887EC5D5-2023-4203-B9D0-A13047CAF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15082"/>
              </p:ext>
            </p:extLst>
          </p:nvPr>
        </p:nvGraphicFramePr>
        <p:xfrm>
          <a:off x="8131696" y="4451168"/>
          <a:ext cx="4018359" cy="1281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453">
                  <a:extLst>
                    <a:ext uri="{9D8B030D-6E8A-4147-A177-3AD203B41FA5}">
                      <a16:colId xmlns:a16="http://schemas.microsoft.com/office/drawing/2014/main" val="2252637372"/>
                    </a:ext>
                  </a:extLst>
                </a:gridCol>
                <a:gridCol w="1339453">
                  <a:extLst>
                    <a:ext uri="{9D8B030D-6E8A-4147-A177-3AD203B41FA5}">
                      <a16:colId xmlns:a16="http://schemas.microsoft.com/office/drawing/2014/main" val="467793081"/>
                    </a:ext>
                  </a:extLst>
                </a:gridCol>
                <a:gridCol w="1339453">
                  <a:extLst>
                    <a:ext uri="{9D8B030D-6E8A-4147-A177-3AD203B41FA5}">
                      <a16:colId xmlns:a16="http://schemas.microsoft.com/office/drawing/2014/main" val="1936753648"/>
                    </a:ext>
                  </a:extLst>
                </a:gridCol>
              </a:tblGrid>
              <a:tr h="182418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solidFill>
                            <a:srgbClr val="002060"/>
                          </a:solidFill>
                        </a:rPr>
                        <a:t>ApexSim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solidFill>
                            <a:srgbClr val="002060"/>
                          </a:solidFill>
                        </a:rPr>
                        <a:t>Stright</a:t>
                      </a:r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 Sim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612700"/>
                  </a:ext>
                </a:extLst>
              </a:tr>
              <a:tr h="18241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</a:t>
                      </a: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/R_100</a:t>
                      </a: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57.9 / 78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59 / 73.3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933799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</a:t>
                      </a: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/R_200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45.8 / 61.5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48.9 / 57.1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389656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solidFill>
                            <a:srgbClr val="002060"/>
                          </a:solidFill>
                        </a:rPr>
                        <a:t>hRideF</a:t>
                      </a: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/R_300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26.3 / 38.6</a:t>
                      </a: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31.1 / 36.2</a:t>
                      </a: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91822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rAeroBal_100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39.44 %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38 %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984085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rAeroBal_200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40.85 %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38.79 %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957947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2060"/>
                          </a:solidFill>
                        </a:rPr>
                        <a:t>rAeroBal_300</a:t>
                      </a:r>
                      <a:endParaRPr lang="it-IT" sz="900" b="1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46.79 %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2060"/>
                          </a:solidFill>
                        </a:rPr>
                        <a:t>44.98 %</a:t>
                      </a:r>
                      <a:endParaRPr lang="it-IT" sz="900" dirty="0">
                        <a:solidFill>
                          <a:srgbClr val="002060"/>
                        </a:solidFill>
                      </a:endParaRPr>
                    </a:p>
                  </a:txBody>
                  <a:tcPr marL="45207" marR="45207" marT="22603" marB="22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71831"/>
                  </a:ext>
                </a:extLst>
              </a:tr>
            </a:tbl>
          </a:graphicData>
        </a:graphic>
      </p:graphicFrame>
      <p:sp>
        <p:nvSpPr>
          <p:cNvPr id="28" name="Arrow: Down 27">
            <a:extLst>
              <a:ext uri="{FF2B5EF4-FFF2-40B4-BE49-F238E27FC236}">
                <a16:creationId xmlns:a16="http://schemas.microsoft.com/office/drawing/2014/main" id="{B25F95C2-E9CD-4AE4-BE45-2FB8AFCC380E}"/>
              </a:ext>
            </a:extLst>
          </p:cNvPr>
          <p:cNvSpPr/>
          <p:nvPr/>
        </p:nvSpPr>
        <p:spPr>
          <a:xfrm>
            <a:off x="10602628" y="3452967"/>
            <a:ext cx="259230" cy="623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4124621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ReadMe - Folder Manual</Template>
  <TotalTime>413</TotalTime>
  <Words>245</Words>
  <Application>Microsoft Office PowerPoint</Application>
  <PresentationFormat>Widescreen</PresentationFormat>
  <Paragraphs>74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Arial Narrow</vt:lpstr>
      <vt:lpstr>Bebas Neue</vt:lpstr>
      <vt:lpstr>Gill Sans</vt:lpstr>
      <vt:lpstr>Helvetica Neue Light</vt:lpstr>
      <vt:lpstr>Lato Light</vt:lpstr>
      <vt:lpstr>Lato Regular</vt:lpstr>
      <vt:lpstr>1_TemaPODIUM</vt:lpstr>
      <vt:lpstr>2_TemaPODIUM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Matteo Paganini</dc:creator>
  <cp:lastModifiedBy>Matteo Paganini</cp:lastModifiedBy>
  <cp:revision>12</cp:revision>
  <dcterms:created xsi:type="dcterms:W3CDTF">2021-04-21T10:06:53Z</dcterms:created>
  <dcterms:modified xsi:type="dcterms:W3CDTF">2021-04-21T17:00:26Z</dcterms:modified>
</cp:coreProperties>
</file>